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8" r:id="rId6"/>
    <p:sldId id="290" r:id="rId7"/>
    <p:sldId id="291" r:id="rId8"/>
    <p:sldId id="292" r:id="rId9"/>
    <p:sldId id="281" r:id="rId10"/>
    <p:sldId id="285" r:id="rId11"/>
    <p:sldId id="260" r:id="rId12"/>
    <p:sldId id="261" r:id="rId13"/>
    <p:sldId id="274" r:id="rId14"/>
    <p:sldId id="283" r:id="rId15"/>
    <p:sldId id="284" r:id="rId16"/>
    <p:sldId id="288" r:id="rId17"/>
    <p:sldId id="289" r:id="rId18"/>
    <p:sldId id="286" r:id="rId19"/>
    <p:sldId id="266" r:id="rId20"/>
    <p:sldId id="287" r:id="rId21"/>
    <p:sldId id="26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DD6C6EA-1138-4D01-BE56-43B8238CE695}">
          <p14:sldIdLst>
            <p14:sldId id="256"/>
            <p14:sldId id="258"/>
            <p14:sldId id="290"/>
            <p14:sldId id="291"/>
            <p14:sldId id="292"/>
            <p14:sldId id="281"/>
            <p14:sldId id="285"/>
            <p14:sldId id="260"/>
            <p14:sldId id="261"/>
            <p14:sldId id="274"/>
            <p14:sldId id="283"/>
            <p14:sldId id="284"/>
            <p14:sldId id="288"/>
            <p14:sldId id="289"/>
            <p14:sldId id="286"/>
            <p14:sldId id="266"/>
            <p14:sldId id="287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3" d="100"/>
          <a:sy n="93" d="100"/>
        </p:scale>
        <p:origin x="57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64E6A-F85F-4E49-BDE0-9B03633AAACC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00478A-3E87-4F9B-B2C2-8B8DF4CE4FF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00478A-3E87-4F9B-B2C2-8B8DF4CE4FF4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63833-186B-452E-8D52-8555143F61B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DE4EE-43B1-477F-943E-8B0CAEAF492D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98009-4129-412D-9322-73AB3C290843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75FE-EC13-4562-B476-0443E72FD80B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19C68-71E0-4670-AE81-52A87B81AC84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D318-F7F4-42DA-AD0F-C37F1C3F137C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E7362-2F00-416E-B862-E2B92DBA5867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133-61FC-468C-9DAD-C98CE14048F9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9742A-C105-4F8C-82C8-C4D60ACE23A1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6893-75E9-4A98-AB07-CB19F04F5D84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D38DE-AECC-408E-9784-50D112BA1417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63833-186B-452E-8D52-8555143F61B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DE4EE-43B1-477F-943E-8B0CAEAF492D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98009-4129-412D-9322-73AB3C290843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75FE-EC13-4562-B476-0443E72FD80B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19C68-71E0-4670-AE81-52A87B81AC84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5D318-F7F4-42DA-AD0F-C37F1C3F137C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E7362-2F00-416E-B862-E2B92DBA5867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133-61FC-468C-9DAD-C98CE14048F9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9742A-C105-4F8C-82C8-C4D60ACE23A1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6893-75E9-4A98-AB07-CB19F04F5D84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D38DE-AECC-408E-9784-50D112BA1417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3E5FD5C9-4318-4F1E-878B-23F96E0777F2}" type="datetime1">
              <a:rPr lang="en-IN" smtClean="0"/>
            </a:fld>
            <a:endParaRPr lang="en-IN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3E5FD5C9-4318-4F1E-878B-23F96E0777F2}" type="datetime1">
              <a:rPr lang="en-IN" smtClean="0"/>
            </a:fld>
            <a:endParaRPr lang="en-IN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0583" y="286063"/>
            <a:ext cx="8923867" cy="2458040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P.S.V COLLEGE OF ENGINEERING AND TECHNOLOGY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(Approved by AICTE, New Delhi &amp; Affiliated to Anna University, Chennai)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Accredited by NAAC with ‘A’ Grade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(Inclusion Under Section 2(f) &amp; 12(B) of the UGC Act,1956)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ISO 9001:2015 Certified Institution)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IN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3102" y="2520193"/>
            <a:ext cx="10971847" cy="137338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EYE GESTURE COMMUNICATION SYSTEM FOR PEOPLE WITH MOTOR DISABILITIES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5431" y="4246852"/>
            <a:ext cx="6036149" cy="2195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Deenadayalan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      (611821104006)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Dineshkumar. V       (611821104008)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Suriya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                 (611821104051)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87" y="548276"/>
            <a:ext cx="1088496" cy="1079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487" y="584602"/>
            <a:ext cx="1079444" cy="986367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611919" y="4246852"/>
            <a:ext cx="6036148" cy="2022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 R.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Monisha.M.E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Co-Ordinator: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Mr. C. Prakash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Narayanan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M.Ε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.,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430949"/>
            <a:ext cx="10515600" cy="105372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750" y="994834"/>
            <a:ext cx="11186651" cy="4919133"/>
          </a:xfrm>
        </p:spPr>
        <p:txBody>
          <a:bodyPr>
            <a:normAutofit fontScale="85000" lnSpcReduction="20000"/>
          </a:bodyPr>
          <a:lstStyle/>
          <a:p>
            <a:pPr marL="571500" indent="-342900" algn="just">
              <a:lnSpc>
                <a:spcPct val="16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400" spc="-1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  <a:p>
            <a:pPr marL="571500" indent="-342900" algn="just">
              <a:lnSpc>
                <a:spcPct val="16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Individuals with severe motor disabilities, such as those caused by ALS, cerebral palsy, or spinal cord injuries, often face significant challenges in communication and interaction with their environment</a:t>
            </a:r>
            <a:endParaRPr lang="en-US" sz="2400" b="0" strike="noStrike" spc="-1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  <a:p>
            <a:pPr marL="571500" indent="-342900" algn="just">
              <a:lnSpc>
                <a:spcPct val="16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The system utilizes a webcam or an infrared-based eye-tracking module to detect and interpret eye movements, which are then mapped to predefined commands for speech synthesis, device control, and text input.</a:t>
            </a:r>
            <a:endParaRPr lang="en-US" sz="2400" b="0" strike="noStrike" spc="-1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  <a:p>
            <a:pPr marL="571500" indent="-342900" algn="just">
              <a:lnSpc>
                <a:spcPct val="16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 Machine learning algorithms process real-time eye gestures, ensuring high accuracy and responsiveness. </a:t>
            </a:r>
            <a:endParaRPr lang="en-US" sz="2400" b="0" strike="noStrike" spc="-1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  <a:p>
            <a:pPr marL="571500" indent="-342900" algn="just">
              <a:lnSpc>
                <a:spcPct val="16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Unlike expensive commercial alternatives, this system leverages affordable hardware and open-source software, making it accessible to a wider population. </a:t>
            </a:r>
            <a:endParaRPr lang="en-US" sz="2400" b="0" strike="noStrike" spc="-1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519849"/>
            <a:ext cx="10515600" cy="105372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altLang="en-US" sz="4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750" y="1790700"/>
            <a:ext cx="8199755" cy="4486910"/>
          </a:xfrm>
        </p:spPr>
        <p:txBody>
          <a:bodyPr>
            <a:noAutofit/>
          </a:bodyPr>
          <a:lstStyle/>
          <a:p>
            <a:pPr marL="571500" indent="-342900" algn="just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Detect eye movements and blinks accurately.</a:t>
            </a:r>
            <a:endParaRPr lang="en-US" altLang="en-US" sz="2400" b="0" strike="noStrike" spc="-1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  <a:p>
            <a:pPr marL="571500" indent="-342900" algn="just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altLang="en-US" sz="2400" b="0" strike="noStrike" spc="-1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  <a:p>
            <a:pPr marL="571500" indent="-342900" algn="just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Map gestures to predefined control commands.</a:t>
            </a:r>
            <a:endParaRPr lang="en-US" altLang="en-US" sz="2400" b="0" strike="noStrike" spc="-1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  <a:p>
            <a:pPr marL="571500" indent="-342900" algn="just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altLang="en-US" sz="2400" b="0" strike="noStrike" spc="-1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  <a:p>
            <a:pPr marL="571500" indent="-342900" algn="just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Provide voice feedback to the user.</a:t>
            </a:r>
            <a:endParaRPr lang="en-US" altLang="en-US" sz="2400" b="0" strike="noStrike" spc="-1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  <a:p>
            <a:pPr marL="571500" indent="-342900" algn="just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altLang="en-US" sz="2400" b="0" strike="noStrike" spc="-1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  <a:p>
            <a:pPr marL="571500" indent="-342900" algn="just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Send commands to Arduino for hardware control.</a:t>
            </a:r>
            <a:endParaRPr lang="en-US" altLang="en-US" sz="2400" b="0" strike="noStrike" spc="-1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  <a:p>
            <a:pPr marL="571500" indent="-342900" algn="just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altLang="en-US" sz="2400" b="0" strike="noStrike" spc="-1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  <a:p>
            <a:pPr marL="571500" indent="-342900" algn="just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Control servo and DC motors to move a wheelchair or robot.</a:t>
            </a:r>
            <a:endParaRPr lang="en-US" altLang="en-US" sz="2400" b="0" strike="noStrike" spc="-1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300" y="365125"/>
            <a:ext cx="6148070" cy="1325880"/>
          </a:xfrm>
        </p:spPr>
        <p:txBody>
          <a:bodyPr/>
          <a:p>
            <a:pPr algn="just"/>
            <a:r>
              <a:rPr lang="en-IN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  <a:endParaRPr lang="en-IN" altLang="en-US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5430" y="1820545"/>
            <a:ext cx="9193530" cy="4351655"/>
          </a:xfrm>
        </p:spPr>
        <p:txBody>
          <a:bodyPr>
            <a:normAutofit/>
          </a:bodyPr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Uses a camera to capture eye movements.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Processes video frames with MediaPipe and OpenCV.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Maps eye gestures to commands (e.g., look left → move left).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Sends commands to Arduino via serial communication.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Arduino controls motors to move wheelchair/platform.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" y="346075"/>
            <a:ext cx="11948795" cy="1344930"/>
          </a:xfrm>
        </p:spPr>
        <p:txBody>
          <a:bodyPr/>
          <a:p>
            <a:pPr algn="ctr"/>
            <a:r>
              <a:rPr lang="en-IN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IN" altLang="en-US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Blank board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89380" y="1697355"/>
            <a:ext cx="9599295" cy="455295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52959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</p:nvPr>
        </p:nvGraphicFramePr>
        <p:xfrm>
          <a:off x="838200" y="977980"/>
          <a:ext cx="10717160" cy="5570075"/>
        </p:xfrm>
        <a:graphic>
          <a:graphicData uri="http://schemas.openxmlformats.org/drawingml/2006/table">
            <a:tbl>
              <a:tblPr/>
              <a:tblGrid>
                <a:gridCol w="2143432"/>
                <a:gridCol w="2143432"/>
                <a:gridCol w="2143432"/>
                <a:gridCol w="2143432"/>
                <a:gridCol w="2143432"/>
              </a:tblGrid>
              <a:tr h="297921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93199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66145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69380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47401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69380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730" marR="80730" marT="40365" marB="403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58645" y="719666"/>
          <a:ext cx="10596715" cy="5865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697"/>
                <a:gridCol w="2608989"/>
                <a:gridCol w="2119343"/>
                <a:gridCol w="2119343"/>
                <a:gridCol w="2119343"/>
              </a:tblGrid>
              <a:tr h="898923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/ Paper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</a:tr>
              <a:tr h="89892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Eye-Controlled Communication for the Disabled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infrared-based eye tracking systems to control communication software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cost and non-portable setup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</a:tr>
              <a:tr h="89892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Gaze-Based Assistive Technology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commercial gaze tracking devices (Tobii EyeX) with calibration for precise tracking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Expensive, requires calibration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</a:tr>
              <a:tr h="89892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Eye Tracking Using OpenCV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webcam + OpenCV with Haar cascade for eye region detection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accuracy, affected by lighting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</a:tr>
              <a:tr h="89892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Low-cost Human-Computer Interaction using Eye Gestures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rule-based logic with webcam input to recognize gestures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implementation, lacks adaptability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</a:tr>
              <a:tr h="89892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of Assistive Communication System for People with Disabilities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image processing with TTS output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optimization for gesture accuracy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730" marR="80730" marT="40365" marB="4036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460375"/>
            <a:ext cx="10515600" cy="52959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12800" y="1180470"/>
            <a:ext cx="10752668" cy="569023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wheelchair systems incorporate various technologies, each with its own set of limitations. The Tobii Eye Tracker utilizes infrared-based eye tracking technology.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Brain-Computer Interface (BCI) Wheelchairs rely on EEG signals for movement control, requiring extensive training and posing an affordability challenge.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Gaze-Controlled Wheelchairs function through webcam-based eye tracking, necessitating high processing power for smooth operation.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Joystick-Controlled Smart Wheelchairs use joysticks integrated with sensors, but they require hand movement, making them unsuitable for individuals with limited mobility. Lastly, Voice-Controlled Wheelchairs operate through speech recognition systems; however, they are not ideal for users who are speech-impaired.</a:t>
            </a:r>
            <a:endParaRPr lang="en-IN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0961"/>
            <a:ext cx="10515600" cy="56156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485" y="1215378"/>
            <a:ext cx="10802921" cy="5151559"/>
          </a:xfrm>
        </p:spPr>
        <p:txBody>
          <a:bodyPr>
            <a:normAutofit fontScale="92500"/>
          </a:bodyPr>
          <a:lstStyle/>
          <a:p>
            <a:pPr marL="485775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The primary goal of the low-cost eye gesture communication system is to enable individuals with motor disabilities to communicate effectively and autonomously. </a:t>
            </a:r>
            <a:endParaRPr lang="en-GB" sz="2400" b="0" strike="noStrike" spc="-1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  <a:p>
            <a:pPr marL="485775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It aims to provide an intuitive interface that can be used easily through eye movements, fostering independence. </a:t>
            </a:r>
            <a:endParaRPr lang="en-GB" sz="2400" b="0" strike="noStrike" spc="-1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  <a:p>
            <a:pPr marL="485775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The system uses a standard webcam or a mobile camera to continuously capture the user’s face and eye movements. It employs computer vision techniques, primarily using OpenCV with Haar Cascade or </a:t>
            </a:r>
            <a:r>
              <a:rPr lang="en-US" sz="2400" b="0" strike="noStrike" spc="-1" dirty="0" err="1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Dlib</a:t>
            </a: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, to detect the face and localize the eye region.</a:t>
            </a:r>
            <a:endParaRPr lang="en-US" sz="2400" b="0" strike="noStrike" spc="-1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  <a:p>
            <a:pPr marL="485775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Hanken Grotesk"/>
                <a:cs typeface="Times New Roman" panose="02020603050405020304" pitchFamily="18" charset="0"/>
              </a:rPr>
              <a:t>These gestures are then classified using either rule-based logic or simple machine learning algorithms, and each gesture is mapped to a predefined command or message.</a:t>
            </a:r>
            <a:endParaRPr lang="en-GB" sz="2400" b="0" strike="noStrike" spc="-1" dirty="0">
              <a:solidFill>
                <a:schemeClr val="dk1"/>
              </a:solidFill>
              <a:latin typeface="Times New Roman" panose="02020603050405020304" pitchFamily="18" charset="0"/>
              <a:ea typeface="Hanken Grotesk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3597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 dirty="0"/>
          </a:p>
        </p:txBody>
      </p:sp>
      <p:pic>
        <p:nvPicPr>
          <p:cNvPr id="3" name="Picture 2" descr="Blank board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9060" y="1776730"/>
            <a:ext cx="10121265" cy="4206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84216"/>
            <a:ext cx="10515600" cy="664634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8605" y="1388110"/>
            <a:ext cx="5894705" cy="5102860"/>
          </a:xfrm>
        </p:spPr>
        <p:txBody>
          <a:bodyPr>
            <a:noAutofit/>
          </a:bodyPr>
          <a:lstStyle/>
          <a:p>
            <a:pPr indent="-457200" rtl="0" eaLnBrk="1" fontAlgn="ctr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i="0" u="none" strike="noStrike" kern="12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Eye Tracking Module</a:t>
            </a:r>
            <a:endParaRPr lang="en-IN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rtl="0" eaLnBrk="1" fontAlgn="ctr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i="0" u="none" strike="noStrike" kern="12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Module</a:t>
            </a:r>
            <a:endParaRPr lang="en-IN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rtl="0" eaLnBrk="1" fontAlgn="ctr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i="0" u="none" strike="noStrike" kern="12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Gesture Recognition Module</a:t>
            </a:r>
            <a:endParaRPr lang="en-IN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rtl="0" eaLnBrk="1" fontAlgn="ctr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i="0" u="none" strike="noStrike" kern="12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 Processing Module</a:t>
            </a:r>
            <a:endParaRPr lang="en-IN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rtl="0" eaLnBrk="1" fontAlgn="ctr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i="0" u="none" strike="noStrike" kern="12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Module</a:t>
            </a:r>
            <a:endParaRPr lang="en-IN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rtl="0" eaLnBrk="1" fontAlgn="ctr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i="0" u="none" strike="noStrike" kern="12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Motor Control Module</a:t>
            </a:r>
            <a:endParaRPr lang="en-IN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rtl="0" eaLnBrk="1" fontAlgn="ctr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i="0" u="none" strike="noStrike" kern="12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Feedback &amp; Safety Module</a:t>
            </a:r>
            <a:endParaRPr lang="en-IN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88819"/>
            <a:ext cx="10515600" cy="355088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960" y="1219200"/>
            <a:ext cx="10556240" cy="5084445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Eye Tracking 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eye movements using specialized sensors, enabling intuitive interaction for users with limited mobility.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Image Processing 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visual inputs and detects key features necessary for efficient system operation.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Gesture Recognition 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Interprets user gestures to facilitate control, ensuring an alternative means of communication.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Command Processing 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Deciphers incoming commands, translating user input into actionable system directives.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Microcontroller 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the brain of the system, orchestrating data flow and command execution.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38823"/>
            <a:ext cx="10515600" cy="66463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626" y="2850749"/>
            <a:ext cx="10155941" cy="22914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Motor Control 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Regulates movement and position adjustments based on processed inputs.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Feedback &amp; Safety Module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user safety through real-time monitoring and corrective mechanisms.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623362" y="365125"/>
            <a:ext cx="258395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4294967295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24" y="1808252"/>
            <a:ext cx="4838133" cy="3023833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429" y="1808252"/>
            <a:ext cx="4774145" cy="29838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63396" y="5152497"/>
            <a:ext cx="1659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Left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75150" y="5152497"/>
            <a:ext cx="1731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Right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40605"/>
            <a:ext cx="5181600" cy="32385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166290"/>
            <a:ext cx="5181600" cy="3238500"/>
          </a:xfrm>
        </p:spPr>
      </p:pic>
      <p:sp>
        <p:nvSpPr>
          <p:cNvPr id="15" name="TextBox 14"/>
          <p:cNvSpPr txBox="1"/>
          <p:nvPr/>
        </p:nvSpPr>
        <p:spPr>
          <a:xfrm>
            <a:off x="2609642" y="5732986"/>
            <a:ext cx="215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Forward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14193" y="5717571"/>
            <a:ext cx="1372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 Still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83674"/>
            <a:ext cx="10515600" cy="66463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9314" y="1533832"/>
            <a:ext cx="10515600" cy="4822517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Calibration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Integrate adaptive learning models to automatically calibrate gaze and blink thresholds per user, improving accuracy and usability for different eye shapes and lighting conditions.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Voice Feedback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Add support for multiple languages and customizable voice settings to make the system more accessible globally.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Text and Auto-Completion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Implement intelligent word prediction and sentence completion to reduce the number of eye gestures needed for communication.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Adaptability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Enhance performance under varying lighting conditions by using infrared-based pupil detection or combining RGB and IR cameras.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536228"/>
            <a:ext cx="10515600" cy="90487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4325" y="1615675"/>
            <a:ext cx="10803196" cy="4570004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eye gesture communication system offers a powerful and accessible tool for individuals with motor disabilities, enabling them to express needs and interact with their environment using only their eye movements and blinks. </a:t>
            </a:r>
            <a:endParaRPr lang="en-US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utilizing technologies such as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OpenCV, and voice synthesis, the system demonstrates a non-invasive, affordable, and real-time solution to communication challenges.</a:t>
            </a:r>
            <a:endParaRPr lang="en-US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technology continues to advance, integrating machine learning, predictive text, and smart device control will further enhance user experience and autonomy. </a:t>
            </a:r>
            <a:endParaRPr lang="en-US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not only has the potential to improve quality of life but also represents a step forward in inclusive technology design, bridging the gap between physical limitations and digital communication.</a:t>
            </a:r>
            <a:endParaRPr lang="en-US" sz="200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519433"/>
            <a:ext cx="10515600" cy="90487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149" y="1230206"/>
            <a:ext cx="10685207" cy="4840596"/>
          </a:xfrm>
        </p:spPr>
        <p:txBody>
          <a:bodyPr>
            <a:normAutofit fontScale="90000" lnSpcReduction="20000"/>
          </a:bodyPr>
          <a:lstStyle/>
          <a:p>
            <a:pPr algn="l">
              <a:lnSpc>
                <a:spcPct val="140000"/>
              </a:lnSpc>
            </a:pP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[01]  N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Wanluk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Visitsattapongse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Juhong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(2016). Smart wheelchair based on eye tracking. 2016 9th Biomedical Engineering International Conference (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BMEiCON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10.1109/BMEiCON.2016.7859594 </a:t>
            </a: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[02]  MA Eid, N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Giakoumidis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El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Saddik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(2016). A novel eye-gaze-controlled wheelchair system for navigating unknown environments: case study with a person with ALS. IEEE Access ( Volume: 4 ).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10.1109/ACCESS.2016.2520093 </a:t>
            </a: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[03]  A Ishizuka, A Yorozu(2017). Motion control of a powered wheelchair using eye gaze in unknown environments. 2017 11th Asian Control Conference (ASCC).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10.1109/ASCC.2017.8287148 </a:t>
            </a: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[04] 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Aniwat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Juhong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Treebupachatsakul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Pintavirooj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(2018). Smart eye-tracking system. 2018 International Workshop on Advanced Image Technology (IWAIT).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10.1109/IWAIT.2018.8369701 </a:t>
            </a: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[05]  N Oda (2018). Development of Power Assist Wheelchair Control with Driving Assistance using Fish-eye Vision. 12th France-Japan and 10th Europe-Asia Congress on Mechatronics. </a:t>
            </a:r>
            <a:r>
              <a:rPr lang="en-US" sz="180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10.1109/MECATRONICS.2018.8495884 </a:t>
            </a:r>
            <a:endParaRPr lang="en-US" sz="180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[06]  A Rajesh, M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Mantur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(2017). Eyeball gesture controlled automatic wheelchair using deep learning. 2017 IEEE Region 10 Humanitarian Technology Conference (R10-HTC). </a:t>
            </a:r>
            <a:r>
              <a:rPr lang="en-IN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doi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10.1109/R10-HTC.2017.8288981 </a:t>
            </a: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sz="180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7C11-244B-4E7C-B665-A91984B527A8}" type="slidenum">
              <a:rPr lang="en-IN" smtClean="0"/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395329" y="2746554"/>
            <a:ext cx="8054010" cy="1325563"/>
          </a:xfrm>
        </p:spPr>
        <p:txBody>
          <a:bodyPr>
            <a:normAutofit/>
          </a:bodyPr>
          <a:lstStyle/>
          <a:p>
            <a:r>
              <a:rPr lang="en-IN" sz="8800" spc="300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</a:rPr>
              <a:t>THANK YOU</a:t>
            </a:r>
            <a:endParaRPr lang="en-IN" sz="8800" spc="300" dirty="0">
              <a:solidFill>
                <a:schemeClr val="accent1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7925</Words>
  <Application>WPS Presentation</Application>
  <PresentationFormat>Widescreen</PresentationFormat>
  <Paragraphs>232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SimSun</vt:lpstr>
      <vt:lpstr>Wingdings</vt:lpstr>
      <vt:lpstr>Times New Roman</vt:lpstr>
      <vt:lpstr>Hanken Grotesk</vt:lpstr>
      <vt:lpstr>Liberation Mono</vt:lpstr>
      <vt:lpstr>Bookman Old Style</vt:lpstr>
      <vt:lpstr>Calibri</vt:lpstr>
      <vt:lpstr>Microsoft YaHei</vt:lpstr>
      <vt:lpstr>Arial Unicode MS</vt:lpstr>
      <vt:lpstr>Calibri Light</vt:lpstr>
      <vt:lpstr>1_Default Design</vt:lpstr>
      <vt:lpstr>Default Design</vt:lpstr>
      <vt:lpstr>P.S.V COLLEGE OF ENGINEERING AND TECHNOLOGY (Approved by AICTE, New Delhi &amp; Affiliated to Anna University, Chennai) Accredited by NAAC with ‘A’ Grade (Inclusion Under Section 2(f) &amp; 12(B) of the UGC Act,1956) (AN ISO 9001:2015 Certified Institution)  DEPARTMENT OF COMPUTER SCIENCE AND ENGINEERING</vt:lpstr>
      <vt:lpstr>ABSTRACT</vt:lpstr>
      <vt:lpstr>OBJECTIVES</vt:lpstr>
      <vt:lpstr>SYSTEM OVERVIEW</vt:lpstr>
      <vt:lpstr>BLOCK DIAGRAM</vt:lpstr>
      <vt:lpstr>LITERATURE SURVEY</vt:lpstr>
      <vt:lpstr>EXISTING SYSTEM</vt:lpstr>
      <vt:lpstr>PROPOSED SYSTEM</vt:lpstr>
      <vt:lpstr>ARCHITECTURE DIAGRAM</vt:lpstr>
      <vt:lpstr>MODULES</vt:lpstr>
      <vt:lpstr>MODULE DESCRIPTION</vt:lpstr>
      <vt:lpstr>MODULE DESCRIPTION</vt:lpstr>
      <vt:lpstr>OUTPUT</vt:lpstr>
      <vt:lpstr>PowerPoint 演示文稿</vt:lpstr>
      <vt:lpstr>FUTURE ENHANCEMENT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P.S.V COLLEGE OF ENGINEERING AND TECHNOLOGY - KRISHNAGIRI</dc:title>
  <dc:creator>Murugan Magesh</dc:creator>
  <cp:lastModifiedBy>DELL</cp:lastModifiedBy>
  <cp:revision>44</cp:revision>
  <dcterms:created xsi:type="dcterms:W3CDTF">2024-04-29T15:14:00Z</dcterms:created>
  <dcterms:modified xsi:type="dcterms:W3CDTF">2025-05-22T11:52:26Z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25F2E723E21240B8999BABB733FE4AC6_13</vt:lpwstr>
  </property>
  <property fmtid="{D5CDD505-2E9C-101B-9397-08002B2CF9AE}" pid="3" name="KSOProductBuildVer">
    <vt:lpwstr>1033-12.2.0.21179</vt:lpwstr>
  </property>
</Properties>
</file>